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5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70" r:id="rId6"/>
    <p:sldId id="261" r:id="rId7"/>
    <p:sldId id="262" r:id="rId8"/>
    <p:sldId id="264" r:id="rId9"/>
    <p:sldId id="265" r:id="rId10"/>
    <p:sldId id="266" r:id="rId11"/>
    <p:sldId id="271" r:id="rId12"/>
    <p:sldId id="263" r:id="rId13"/>
    <p:sldId id="272" r:id="rId14"/>
    <p:sldId id="269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F5FA"/>
    <a:srgbClr val="2A4436"/>
    <a:srgbClr val="006666"/>
    <a:srgbClr val="009999"/>
    <a:srgbClr val="00CC99"/>
    <a:srgbClr val="66CECC"/>
    <a:srgbClr val="66FF99"/>
    <a:srgbClr val="A0A9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eniyi\Downloads\Sales%20_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eniyi\Downloads\Sales%20_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eniyi\Downloads\Sales%20_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_Data.xlsx]Sheet 1 !PivotTable2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Revenue by  Year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NG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'Sheet 1 '!$O$11</c:f>
              <c:strCache>
                <c:ptCount val="1"/>
                <c:pt idx="0">
                  <c:v>Total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'Sheet 1 '!$N$12:$N$17</c:f>
              <c:strCache>
                <c:ptCount val="5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</c:strCache>
            </c:strRef>
          </c:cat>
          <c:val>
            <c:numRef>
              <c:f>'Sheet 1 '!$O$12:$O$17</c:f>
              <c:numCache>
                <c:formatCode>"£"#,##0;\-"£"#,##0;"£"#,##0</c:formatCode>
                <c:ptCount val="5"/>
                <c:pt idx="0">
                  <c:v>200804.55649999931</c:v>
                </c:pt>
                <c:pt idx="1">
                  <c:v>203230.2834999997</c:v>
                </c:pt>
                <c:pt idx="2">
                  <c:v>199853.26019999955</c:v>
                </c:pt>
                <c:pt idx="3">
                  <c:v>220166.18920000078</c:v>
                </c:pt>
                <c:pt idx="4">
                  <c:v>195172.81330000036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670-49CF-8995-4F15E1BC59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22072584"/>
        <c:axId val="522067904"/>
      </c:lineChart>
      <c:catAx>
        <c:axId val="5220725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522067904"/>
        <c:crosses val="autoZero"/>
        <c:auto val="1"/>
        <c:lblAlgn val="ctr"/>
        <c:lblOffset val="100"/>
        <c:noMultiLvlLbl val="0"/>
      </c:catAx>
      <c:valAx>
        <c:axId val="522067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&quot;£&quot;#,##0;\-&quot;£&quot;#,##0;&quot;£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522072584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_Data.xlsx]Sheet 1 !PivotTable12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 dirty="0"/>
              <a:t>Discount</a:t>
            </a:r>
            <a:r>
              <a:rPr lang="en-US" sz="2000" b="1" baseline="0" dirty="0"/>
              <a:t> Impact Analysis</a:t>
            </a:r>
          </a:p>
          <a:p>
            <a:pPr>
              <a:defRPr b="1"/>
            </a:pPr>
            <a:endParaRPr 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'Sheet 1 '!$O$114</c:f>
              <c:strCache>
                <c:ptCount val="1"/>
                <c:pt idx="0">
                  <c:v>Net 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'Sheet 1 '!$N$115:$N$146</c:f>
              <c:strCache>
                <c:ptCount val="3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</c:strCache>
            </c:strRef>
          </c:cat>
          <c:val>
            <c:numRef>
              <c:f>'Sheet 1 '!$O$115:$O$146</c:f>
              <c:numCache>
                <c:formatCode>"£"#,##0;\-"£"#,##0;"£"#,##0</c:formatCode>
                <c:ptCount val="31"/>
                <c:pt idx="0">
                  <c:v>20136.289999999997</c:v>
                </c:pt>
                <c:pt idx="1">
                  <c:v>37497.289500000014</c:v>
                </c:pt>
                <c:pt idx="2">
                  <c:v>41992.696199999984</c:v>
                </c:pt>
                <c:pt idx="3">
                  <c:v>39515.45259999999</c:v>
                </c:pt>
                <c:pt idx="4">
                  <c:v>34429.900799999974</c:v>
                </c:pt>
                <c:pt idx="5">
                  <c:v>41904.338499999976</c:v>
                </c:pt>
                <c:pt idx="6">
                  <c:v>33241.323400000016</c:v>
                </c:pt>
                <c:pt idx="7">
                  <c:v>33636.770100000016</c:v>
                </c:pt>
                <c:pt idx="8">
                  <c:v>45565.033200000005</c:v>
                </c:pt>
                <c:pt idx="9">
                  <c:v>35196.734300000018</c:v>
                </c:pt>
                <c:pt idx="10">
                  <c:v>38802.185999999987</c:v>
                </c:pt>
                <c:pt idx="11">
                  <c:v>32442.68050000002</c:v>
                </c:pt>
                <c:pt idx="12">
                  <c:v>35080.152799999996</c:v>
                </c:pt>
                <c:pt idx="13">
                  <c:v>35231.572199999981</c:v>
                </c:pt>
                <c:pt idx="14">
                  <c:v>37154.743399999978</c:v>
                </c:pt>
                <c:pt idx="15">
                  <c:v>32983.825000000041</c:v>
                </c:pt>
                <c:pt idx="16">
                  <c:v>33078.393599999989</c:v>
                </c:pt>
                <c:pt idx="17">
                  <c:v>29227.321200000009</c:v>
                </c:pt>
                <c:pt idx="18">
                  <c:v>30225.511599999991</c:v>
                </c:pt>
                <c:pt idx="19">
                  <c:v>38561.783399999913</c:v>
                </c:pt>
                <c:pt idx="20">
                  <c:v>27480.471999999994</c:v>
                </c:pt>
                <c:pt idx="21">
                  <c:v>29305.152699999999</c:v>
                </c:pt>
                <c:pt idx="22">
                  <c:v>29046.4434</c:v>
                </c:pt>
                <c:pt idx="23">
                  <c:v>31548.640200000013</c:v>
                </c:pt>
                <c:pt idx="24">
                  <c:v>31754.380799999963</c:v>
                </c:pt>
                <c:pt idx="25">
                  <c:v>25983.322499999995</c:v>
                </c:pt>
                <c:pt idx="26">
                  <c:v>32144.86</c:v>
                </c:pt>
                <c:pt idx="27">
                  <c:v>30586.145899999992</c:v>
                </c:pt>
                <c:pt idx="28">
                  <c:v>29040.06239999997</c:v>
                </c:pt>
                <c:pt idx="29">
                  <c:v>31248.839499999976</c:v>
                </c:pt>
                <c:pt idx="30">
                  <c:v>15184.784999999989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B2-404B-A84E-85F221608F98}"/>
            </c:ext>
          </c:extLst>
        </c:ser>
        <c:ser>
          <c:idx val="1"/>
          <c:order val="1"/>
          <c:tx>
            <c:strRef>
              <c:f>'Sheet 1 '!$P$114</c:f>
              <c:strCache>
                <c:ptCount val="1"/>
                <c:pt idx="0">
                  <c:v> Total Quantity Sold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'Sheet 1 '!$N$115:$N$146</c:f>
              <c:strCache>
                <c:ptCount val="3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</c:strCache>
            </c:strRef>
          </c:cat>
          <c:val>
            <c:numRef>
              <c:f>'Sheet 1 '!$P$115:$P$146</c:f>
              <c:numCache>
                <c:formatCode>#,##0</c:formatCode>
                <c:ptCount val="31"/>
                <c:pt idx="0">
                  <c:v>498</c:v>
                </c:pt>
                <c:pt idx="1">
                  <c:v>962</c:v>
                </c:pt>
                <c:pt idx="2">
                  <c:v>1019</c:v>
                </c:pt>
                <c:pt idx="3">
                  <c:v>1037</c:v>
                </c:pt>
                <c:pt idx="4">
                  <c:v>855</c:v>
                </c:pt>
                <c:pt idx="5">
                  <c:v>1112</c:v>
                </c:pt>
                <c:pt idx="6">
                  <c:v>919</c:v>
                </c:pt>
                <c:pt idx="7">
                  <c:v>902</c:v>
                </c:pt>
                <c:pt idx="8">
                  <c:v>1125</c:v>
                </c:pt>
                <c:pt idx="9">
                  <c:v>943</c:v>
                </c:pt>
                <c:pt idx="10">
                  <c:v>1012</c:v>
                </c:pt>
                <c:pt idx="11">
                  <c:v>944</c:v>
                </c:pt>
                <c:pt idx="12">
                  <c:v>936</c:v>
                </c:pt>
                <c:pt idx="13">
                  <c:v>946</c:v>
                </c:pt>
                <c:pt idx="14">
                  <c:v>1017</c:v>
                </c:pt>
                <c:pt idx="15">
                  <c:v>920</c:v>
                </c:pt>
                <c:pt idx="16">
                  <c:v>958</c:v>
                </c:pt>
                <c:pt idx="17">
                  <c:v>865</c:v>
                </c:pt>
                <c:pt idx="18">
                  <c:v>889</c:v>
                </c:pt>
                <c:pt idx="19">
                  <c:v>1186</c:v>
                </c:pt>
                <c:pt idx="20">
                  <c:v>804</c:v>
                </c:pt>
                <c:pt idx="21">
                  <c:v>921</c:v>
                </c:pt>
                <c:pt idx="22">
                  <c:v>949</c:v>
                </c:pt>
                <c:pt idx="23">
                  <c:v>989</c:v>
                </c:pt>
                <c:pt idx="24">
                  <c:v>1007</c:v>
                </c:pt>
                <c:pt idx="25">
                  <c:v>842</c:v>
                </c:pt>
                <c:pt idx="26">
                  <c:v>1111</c:v>
                </c:pt>
                <c:pt idx="27">
                  <c:v>1039</c:v>
                </c:pt>
                <c:pt idx="28">
                  <c:v>976</c:v>
                </c:pt>
                <c:pt idx="29">
                  <c:v>1092</c:v>
                </c:pt>
                <c:pt idx="30">
                  <c:v>546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B2-404B-A84E-85F221608F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522081224"/>
        <c:axId val="522081584"/>
        <c:axId val="0"/>
      </c:bar3DChart>
      <c:catAx>
        <c:axId val="52208122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22081584"/>
        <c:crosses val="autoZero"/>
        <c:auto val="1"/>
        <c:lblAlgn val="ctr"/>
        <c:lblOffset val="100"/>
        <c:noMultiLvlLbl val="0"/>
      </c:catAx>
      <c:valAx>
        <c:axId val="522081584"/>
        <c:scaling>
          <c:orientation val="minMax"/>
        </c:scaling>
        <c:delete val="1"/>
        <c:axPos val="l"/>
        <c:numFmt formatCode="&quot;£&quot;#,##0;\-&quot;£&quot;#,##0;&quot;£&quot;#,##0" sourceLinked="1"/>
        <c:majorTickMark val="out"/>
        <c:minorTickMark val="none"/>
        <c:tickLblPos val="nextTo"/>
        <c:crossAx val="5220812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3118639317015275"/>
          <c:y val="0.41681196827298067"/>
          <c:w val="0.16717768750308346"/>
          <c:h val="0.153390711437070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_Data.xlsx]Sheet 1 !PivotTable13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 dirty="0"/>
              <a:t>Top</a:t>
            </a:r>
            <a:r>
              <a:rPr lang="en-US" sz="2000" b="1" baseline="0" dirty="0"/>
              <a:t> 5 Products Contributors</a:t>
            </a:r>
          </a:p>
          <a:p>
            <a:pPr>
              <a:defRPr b="1"/>
            </a:pPr>
            <a:endParaRPr 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1.9559902200488997E-2"/>
          <c:y val="9.9098953558345887E-2"/>
          <c:w val="0.95696821515892416"/>
          <c:h val="0.7776246314176290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'Sheet 1 '!$P$148</c:f>
              <c:strCache>
                <c:ptCount val="1"/>
                <c:pt idx="0">
                  <c:v>Product Revenue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rgbClr val="FF0000"/>
              </a:solidFill>
            </a:ln>
            <a:effectLst/>
          </c:spPr>
          <c:invertIfNegative val="0"/>
          <c:cat>
            <c:strRef>
              <c:f>'Sheet 1 '!$O$149:$O$154</c:f>
              <c:strCache>
                <c:ptCount val="5"/>
                <c:pt idx="0">
                  <c:v>Toy Car</c:v>
                </c:pt>
                <c:pt idx="1">
                  <c:v>Wireless Mouse</c:v>
                </c:pt>
                <c:pt idx="2">
                  <c:v>Mug</c:v>
                </c:pt>
                <c:pt idx="3">
                  <c:v>Bag</c:v>
                </c:pt>
                <c:pt idx="4">
                  <c:v>Lamp</c:v>
                </c:pt>
              </c:strCache>
            </c:strRef>
          </c:cat>
          <c:val>
            <c:numRef>
              <c:f>'Sheet 1 '!$P$149:$P$154</c:f>
              <c:numCache>
                <c:formatCode>"£"#,##0.00;\-"£"#,##0.00;"£"#,##0.00</c:formatCode>
                <c:ptCount val="5"/>
                <c:pt idx="0">
                  <c:v>111319.37330000012</c:v>
                </c:pt>
                <c:pt idx="1">
                  <c:v>110305.62120000004</c:v>
                </c:pt>
                <c:pt idx="2">
                  <c:v>109069.14920000006</c:v>
                </c:pt>
                <c:pt idx="3">
                  <c:v>107854.87360000011</c:v>
                </c:pt>
                <c:pt idx="4">
                  <c:v>106990.60629999991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C9-4A2B-84F5-051AA007CB39}"/>
            </c:ext>
          </c:extLst>
        </c:ser>
        <c:ser>
          <c:idx val="1"/>
          <c:order val="1"/>
          <c:tx>
            <c:strRef>
              <c:f>'Sheet 1 '!$Q$148</c:f>
              <c:strCache>
                <c:ptCount val="1"/>
                <c:pt idx="0">
                  <c:v> Total Quantity Sold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'Sheet 1 '!$O$149:$O$154</c:f>
              <c:strCache>
                <c:ptCount val="5"/>
                <c:pt idx="0">
                  <c:v>Toy Car</c:v>
                </c:pt>
                <c:pt idx="1">
                  <c:v>Wireless Mouse</c:v>
                </c:pt>
                <c:pt idx="2">
                  <c:v>Mug</c:v>
                </c:pt>
                <c:pt idx="3">
                  <c:v>Bag</c:v>
                </c:pt>
                <c:pt idx="4">
                  <c:v>Lamp</c:v>
                </c:pt>
              </c:strCache>
            </c:strRef>
          </c:cat>
          <c:val>
            <c:numRef>
              <c:f>'Sheet 1 '!$Q$149:$Q$154</c:f>
              <c:numCache>
                <c:formatCode>#,##0</c:formatCode>
                <c:ptCount val="5"/>
                <c:pt idx="0">
                  <c:v>3189</c:v>
                </c:pt>
                <c:pt idx="1">
                  <c:v>3184</c:v>
                </c:pt>
                <c:pt idx="2">
                  <c:v>2999</c:v>
                </c:pt>
                <c:pt idx="3">
                  <c:v>3083</c:v>
                </c:pt>
                <c:pt idx="4">
                  <c:v>3041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C9-4A2B-84F5-051AA007CB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80710056"/>
        <c:axId val="380712576"/>
      </c:barChart>
      <c:catAx>
        <c:axId val="3807100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80712576"/>
        <c:crosses val="autoZero"/>
        <c:auto val="1"/>
        <c:lblAlgn val="ctr"/>
        <c:lblOffset val="100"/>
        <c:noMultiLvlLbl val="0"/>
      </c:catAx>
      <c:valAx>
        <c:axId val="380712576"/>
        <c:scaling>
          <c:orientation val="minMax"/>
        </c:scaling>
        <c:delete val="1"/>
        <c:axPos val="l"/>
        <c:numFmt formatCode="&quot;£&quot;#,##0.00;\-&quot;£&quot;#,##0.00;&quot;£&quot;#,##0.00" sourceLinked="1"/>
        <c:majorTickMark val="none"/>
        <c:minorTickMark val="none"/>
        <c:tickLblPos val="nextTo"/>
        <c:crossAx val="380710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1449750688254435"/>
          <c:y val="0.89770675768309061"/>
          <c:w val="0.37100483221993341"/>
          <c:h val="8.830446051216563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B88DF-A9D3-4A4F-9818-141E00509A86}" type="datetimeFigureOut">
              <a:rPr lang="en-NG" smtClean="0"/>
              <a:t>23/12/2025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A084A4-276B-4429-882B-12126668C08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66889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084A4-276B-4429-882B-12126668C086}" type="slidenum">
              <a:rPr lang="en-NG" smtClean="0"/>
              <a:t>2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68090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084A4-276B-4429-882B-12126668C086}" type="slidenum">
              <a:rPr lang="en-NG" smtClean="0"/>
              <a:t>10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65827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85350-F1C1-5510-ACBE-3197E2908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DBB0AC-3917-F19E-F1D5-18F5CF2A3B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D60D23-5B58-E5F1-CFAE-95C421914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24333-742D-A2CB-E462-B211ED96B4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084A4-276B-4429-882B-12126668C086}" type="slidenum">
              <a:rPr lang="en-NG" smtClean="0"/>
              <a:t>11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862380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084A4-276B-4429-882B-12126668C086}" type="slidenum">
              <a:rPr lang="en-NG" smtClean="0"/>
              <a:t>14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8665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35147-C60E-1164-FBCD-CFCBA54C3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47DDA-2125-7D7F-299D-B7AB14810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F7AF9D-40D5-C883-3004-E3DCD7DFE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FBB62-83E5-E3B8-5D68-4FD359DB7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084A4-276B-4429-882B-12126668C086}" type="slidenum">
              <a:rPr lang="en-NG" smtClean="0"/>
              <a:t>15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86138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37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618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033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669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33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978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363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244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759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675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282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347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497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AE220058-3FCE-496E-ADF2-D8A6961F3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193F809-7E50-4AAD-8E26-878207931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44603" y="4325112"/>
            <a:ext cx="71323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D3AE6DE-4D15-6C06-6CC7-8BB26430D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6925" y="758952"/>
            <a:ext cx="8527056" cy="356417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200" b="1" dirty="0">
                <a:solidFill>
                  <a:schemeClr val="tx1"/>
                </a:solidFill>
              </a:rPr>
              <a:t>EXCEL-  RETAIL PROJECT</a:t>
            </a:r>
            <a:br>
              <a:rPr lang="en-US" sz="3200" b="1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br>
              <a:rPr lang="en-US" sz="3600" b="1" dirty="0"/>
            </a:br>
            <a:r>
              <a:rPr lang="en-US" sz="3600" b="1" dirty="0"/>
              <a:t>Diagnosing Declining Sales and Revenue Leakage Analysis</a:t>
            </a:r>
            <a:br>
              <a:rPr lang="en-US" sz="3600" b="1" dirty="0"/>
            </a:br>
            <a:r>
              <a:rPr lang="en-US" sz="3600" b="1" dirty="0"/>
              <a:t>Role: Data Analyst – Sales Intelligence Division</a:t>
            </a:r>
            <a:br>
              <a:rPr lang="en-US" sz="3600" b="1" dirty="0"/>
            </a:br>
            <a:r>
              <a:rPr lang="en-US" sz="3600" b="1" dirty="0"/>
              <a:t>Tools Used: Excel (Power Pivot, Power Query, DAX, Pivot Tables)  </a:t>
            </a:r>
            <a:br>
              <a:rPr lang="en-US" sz="3600" b="1" dirty="0"/>
            </a:br>
            <a:br>
              <a:rPr lang="en-US" sz="3600" b="1" dirty="0"/>
            </a:br>
            <a:r>
              <a:rPr lang="en-US" sz="3200" b="1" dirty="0"/>
              <a:t> </a:t>
            </a:r>
            <a:r>
              <a:rPr lang="en-US" sz="3200" b="1" dirty="0">
                <a:solidFill>
                  <a:schemeClr val="tx1"/>
                </a:solidFill>
              </a:rPr>
              <a:t>-</a:t>
            </a:r>
            <a:r>
              <a:rPr lang="en-US" sz="3200" dirty="0">
                <a:solidFill>
                  <a:schemeClr val="tx1"/>
                </a:solidFill>
              </a:rPr>
              <a:t>   By Adeniyi Adeyemi</a:t>
            </a:r>
            <a:endParaRPr lang="en-US" sz="32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54333-5609-6ADE-E5B8-99502AE8B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54977" y="4956048"/>
            <a:ext cx="7321946" cy="11430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                        </a:t>
            </a:r>
            <a:r>
              <a:rPr lang="en-US" b="1" dirty="0">
                <a:solidFill>
                  <a:schemeClr val="tx1"/>
                </a:solidFill>
              </a:rPr>
              <a:t>2018-2022 Report</a:t>
            </a:r>
          </a:p>
          <a:p>
            <a:endParaRPr lang="en-US" dirty="0"/>
          </a:p>
        </p:txBody>
      </p:sp>
      <p:pic>
        <p:nvPicPr>
          <p:cNvPr id="32" name="Graphic 31" descr="Bar Graph with Upward Trend">
            <a:extLst>
              <a:ext uri="{FF2B5EF4-FFF2-40B4-BE49-F238E27FC236}">
                <a16:creationId xmlns:a16="http://schemas.microsoft.com/office/drawing/2014/main" id="{E275B62C-B71D-AAE9-D088-71AA6F5CC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020" y="1781695"/>
            <a:ext cx="2449486" cy="2449486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3E9C5090-7D25-41E3-A6D3-CCAEE505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1BF8809-0DAC-41E5-A212-ACB4A01BE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763692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6FE88-1CD7-ADA1-9F35-2474CE87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4412" y="141515"/>
            <a:ext cx="8915399" cy="1197429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Table of Contents</a:t>
            </a:r>
            <a:endParaRPr lang="en-NG" sz="36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14FD9-8527-84A6-1E16-066A92DEE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1344" y="1012368"/>
            <a:ext cx="9969725" cy="5521781"/>
          </a:xfrm>
        </p:spPr>
        <p:txBody>
          <a:bodyPr/>
          <a:lstStyle/>
          <a:p>
            <a:endParaRPr lang="en-NG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A8C0D98-DDC1-2A5F-8ED0-3CA7CCD55C99}"/>
              </a:ext>
            </a:extLst>
          </p:cNvPr>
          <p:cNvSpPr/>
          <p:nvPr/>
        </p:nvSpPr>
        <p:spPr>
          <a:xfrm>
            <a:off x="1676400" y="1251845"/>
            <a:ext cx="2623457" cy="82509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Business  Overview</a:t>
            </a:r>
            <a:endParaRPr lang="en-NG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E6DBBE-334D-F8B3-DAEA-98013A134FC0}"/>
              </a:ext>
            </a:extLst>
          </p:cNvPr>
          <p:cNvSpPr/>
          <p:nvPr/>
        </p:nvSpPr>
        <p:spPr>
          <a:xfrm>
            <a:off x="4898572" y="1251845"/>
            <a:ext cx="2329543" cy="7890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Objectives</a:t>
            </a:r>
            <a:endParaRPr lang="en-NG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05221B-0B83-E6DC-E157-FD4BFEC365CF}"/>
              </a:ext>
            </a:extLst>
          </p:cNvPr>
          <p:cNvSpPr/>
          <p:nvPr/>
        </p:nvSpPr>
        <p:spPr>
          <a:xfrm>
            <a:off x="8044542" y="1251845"/>
            <a:ext cx="2264229" cy="75235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overview &amp; Approach</a:t>
            </a:r>
            <a:endParaRPr lang="en-NG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3AD1CF-62C5-F573-F90A-DF5F543B9BCB}"/>
              </a:ext>
            </a:extLst>
          </p:cNvPr>
          <p:cNvSpPr/>
          <p:nvPr/>
        </p:nvSpPr>
        <p:spPr>
          <a:xfrm>
            <a:off x="1690339" y="2509099"/>
            <a:ext cx="2481944" cy="87085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Key Performance Indicators  (KPIs)</a:t>
            </a:r>
            <a:endParaRPr lang="en-NG" dirty="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CD4F19C-73DE-EAC1-E5A2-10BCBEABF08B}"/>
              </a:ext>
            </a:extLst>
          </p:cNvPr>
          <p:cNvSpPr/>
          <p:nvPr/>
        </p:nvSpPr>
        <p:spPr>
          <a:xfrm>
            <a:off x="4898572" y="2509099"/>
            <a:ext cx="2481944" cy="87085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Sales Performance Overview (Yearly)</a:t>
            </a:r>
            <a:endParaRPr lang="en-NG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3A8C1B2-F179-1E94-430A-174471FC2893}"/>
              </a:ext>
            </a:extLst>
          </p:cNvPr>
          <p:cNvSpPr/>
          <p:nvPr/>
        </p:nvSpPr>
        <p:spPr>
          <a:xfrm>
            <a:off x="8080391" y="2542601"/>
            <a:ext cx="2351313" cy="8034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Quarterly Revenue Analysis</a:t>
            </a:r>
            <a:endParaRPr lang="en-NG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CA23407D-DCDD-8B7C-0B55-AE4A83746EE8}"/>
              </a:ext>
            </a:extLst>
          </p:cNvPr>
          <p:cNvSpPr/>
          <p:nvPr/>
        </p:nvSpPr>
        <p:spPr>
          <a:xfrm>
            <a:off x="4349511" y="1716142"/>
            <a:ext cx="468083" cy="1222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>
              <a:solidFill>
                <a:srgbClr val="A0A9AE"/>
              </a:solidFill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C3E9D95-3732-5546-6979-2E15FB1168FD}"/>
              </a:ext>
            </a:extLst>
          </p:cNvPr>
          <p:cNvSpPr/>
          <p:nvPr/>
        </p:nvSpPr>
        <p:spPr>
          <a:xfrm>
            <a:off x="7309093" y="1751121"/>
            <a:ext cx="632171" cy="1222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30D260D-57C8-BE7F-9A16-B6001ACF785A}"/>
              </a:ext>
            </a:extLst>
          </p:cNvPr>
          <p:cNvSpPr/>
          <p:nvPr/>
        </p:nvSpPr>
        <p:spPr>
          <a:xfrm>
            <a:off x="5029203" y="3724155"/>
            <a:ext cx="2351313" cy="8369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Discount Pattern &amp; Campaign Impact</a:t>
            </a:r>
            <a:endParaRPr lang="en-NG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38BE48F-2154-8F6E-C1BF-CD9B30A8D5DC}"/>
              </a:ext>
            </a:extLst>
          </p:cNvPr>
          <p:cNvSpPr/>
          <p:nvPr/>
        </p:nvSpPr>
        <p:spPr>
          <a:xfrm>
            <a:off x="1676400" y="3812115"/>
            <a:ext cx="2495883" cy="749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Monthly Seasonality Analysis</a:t>
            </a:r>
            <a:endParaRPr lang="en-NG" dirty="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5C74A358-5A51-ADF6-4B85-CB09C1BCDC38}"/>
              </a:ext>
            </a:extLst>
          </p:cNvPr>
          <p:cNvSpPr/>
          <p:nvPr/>
        </p:nvSpPr>
        <p:spPr>
          <a:xfrm>
            <a:off x="2786743" y="2243299"/>
            <a:ext cx="45719" cy="265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2EC688C9-209E-8A56-ABBC-03430F51C517}"/>
              </a:ext>
            </a:extLst>
          </p:cNvPr>
          <p:cNvSpPr/>
          <p:nvPr/>
        </p:nvSpPr>
        <p:spPr>
          <a:xfrm>
            <a:off x="9029700" y="2243299"/>
            <a:ext cx="45719" cy="265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8B60121-6B9C-DC7D-E371-1B14EB8CEC58}"/>
              </a:ext>
            </a:extLst>
          </p:cNvPr>
          <p:cNvSpPr/>
          <p:nvPr/>
        </p:nvSpPr>
        <p:spPr>
          <a:xfrm>
            <a:off x="4299857" y="3004457"/>
            <a:ext cx="533399" cy="728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C004E72E-4556-C694-FE7B-C9E0AE048905}"/>
              </a:ext>
            </a:extLst>
          </p:cNvPr>
          <p:cNvSpPr/>
          <p:nvPr/>
        </p:nvSpPr>
        <p:spPr>
          <a:xfrm>
            <a:off x="7505838" y="3040872"/>
            <a:ext cx="38936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99A3BDF-04C3-AAC5-606A-55B7FCBC89C4}"/>
              </a:ext>
            </a:extLst>
          </p:cNvPr>
          <p:cNvSpPr/>
          <p:nvPr/>
        </p:nvSpPr>
        <p:spPr>
          <a:xfrm>
            <a:off x="8104413" y="3736294"/>
            <a:ext cx="2351313" cy="8369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 Performance Analysis</a:t>
            </a:r>
            <a:endParaRPr lang="en-NG" dirty="0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37B453CC-4A13-49EB-A5BB-2E7B9E0DCC7A}"/>
              </a:ext>
            </a:extLst>
          </p:cNvPr>
          <p:cNvSpPr/>
          <p:nvPr/>
        </p:nvSpPr>
        <p:spPr>
          <a:xfrm>
            <a:off x="4299857" y="4047835"/>
            <a:ext cx="639203" cy="728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8C81C982-EFBE-B5E3-C751-6477D9840262}"/>
              </a:ext>
            </a:extLst>
          </p:cNvPr>
          <p:cNvSpPr/>
          <p:nvPr/>
        </p:nvSpPr>
        <p:spPr>
          <a:xfrm>
            <a:off x="7505838" y="4084250"/>
            <a:ext cx="419764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AFA96DD-B566-57C0-D2CC-51D89EF02F3E}"/>
              </a:ext>
            </a:extLst>
          </p:cNvPr>
          <p:cNvSpPr/>
          <p:nvPr/>
        </p:nvSpPr>
        <p:spPr>
          <a:xfrm>
            <a:off x="1676400" y="5218332"/>
            <a:ext cx="2351313" cy="8369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Key Drivers Of Sales Decline</a:t>
            </a:r>
            <a:endParaRPr lang="en-NG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2171129-2734-8203-E266-8E8F453F9D44}"/>
              </a:ext>
            </a:extLst>
          </p:cNvPr>
          <p:cNvSpPr/>
          <p:nvPr/>
        </p:nvSpPr>
        <p:spPr>
          <a:xfrm>
            <a:off x="4963887" y="5228998"/>
            <a:ext cx="2351313" cy="8369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  <a:p>
            <a:pPr algn="ctr"/>
            <a:r>
              <a:rPr lang="en-NG" b="1" dirty="0"/>
              <a:t>Expected Business Impact &amp; Next Steps</a:t>
            </a:r>
            <a:endParaRPr lang="en-NG" dirty="0"/>
          </a:p>
          <a:p>
            <a:pPr algn="ctr"/>
            <a:endParaRPr lang="en-NG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FEC6AA8-4DDC-3EEA-888E-2BD7CB0334A5}"/>
              </a:ext>
            </a:extLst>
          </p:cNvPr>
          <p:cNvSpPr/>
          <p:nvPr/>
        </p:nvSpPr>
        <p:spPr>
          <a:xfrm>
            <a:off x="8000999" y="5218332"/>
            <a:ext cx="2351313" cy="8369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Appendix – Dashboards Snapshot</a:t>
            </a:r>
          </a:p>
          <a:p>
            <a:pPr algn="ctr"/>
            <a:endParaRPr lang="en-US" dirty="0"/>
          </a:p>
          <a:p>
            <a:pPr algn="ctr"/>
            <a:endParaRPr lang="en-NG" dirty="0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59267455-6473-F40B-EAE7-5F78C08CB9F4}"/>
              </a:ext>
            </a:extLst>
          </p:cNvPr>
          <p:cNvSpPr/>
          <p:nvPr/>
        </p:nvSpPr>
        <p:spPr>
          <a:xfrm>
            <a:off x="9075419" y="3242798"/>
            <a:ext cx="45719" cy="37240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F617069B-3360-ACFE-E108-EED4F45CBECE}"/>
              </a:ext>
            </a:extLst>
          </p:cNvPr>
          <p:cNvSpPr/>
          <p:nvPr/>
        </p:nvSpPr>
        <p:spPr>
          <a:xfrm>
            <a:off x="2786743" y="3429000"/>
            <a:ext cx="45719" cy="30729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10052069-159A-B8CC-9B07-955DA3080985}"/>
              </a:ext>
            </a:extLst>
          </p:cNvPr>
          <p:cNvSpPr/>
          <p:nvPr/>
        </p:nvSpPr>
        <p:spPr>
          <a:xfrm>
            <a:off x="2806337" y="4607147"/>
            <a:ext cx="108858" cy="5079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1A76ADC9-53A3-D7A0-B9E0-0C7F10E913A7}"/>
              </a:ext>
            </a:extLst>
          </p:cNvPr>
          <p:cNvSpPr/>
          <p:nvPr/>
        </p:nvSpPr>
        <p:spPr>
          <a:xfrm>
            <a:off x="9029700" y="4573254"/>
            <a:ext cx="91439" cy="5212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B6E7B4C8-E38A-6A93-50A9-EE20C730299E}"/>
              </a:ext>
            </a:extLst>
          </p:cNvPr>
          <p:cNvSpPr/>
          <p:nvPr/>
        </p:nvSpPr>
        <p:spPr>
          <a:xfrm>
            <a:off x="4131795" y="5531663"/>
            <a:ext cx="685799" cy="653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EBDA2CFF-3285-A747-6BDA-897F8A43F9F1}"/>
              </a:ext>
            </a:extLst>
          </p:cNvPr>
          <p:cNvSpPr/>
          <p:nvPr/>
        </p:nvSpPr>
        <p:spPr>
          <a:xfrm>
            <a:off x="7380516" y="5596989"/>
            <a:ext cx="514682" cy="504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880270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3FE9996-7EAC-4679-B37D-C1045F42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1DF1FE-5CC8-43D2-A76C-93C76EED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61BEBD-A23C-409E-ABC7-73F9EDC02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AD00E7-39A8-3618-CB51-EEEAFB4EA1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92370" y="605896"/>
            <a:ext cx="3084844" cy="56462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Business Overview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11729-C575-CA6D-7A04-316672544501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742016" y="605896"/>
            <a:ext cx="6413663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NG" dirty="0"/>
              <a:t> 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A </a:t>
            </a:r>
            <a:r>
              <a:rPr lang="en-NG" dirty="0"/>
              <a:t>growing e-commerce retail company operating across Europe.</a:t>
            </a:r>
            <a:r>
              <a:rPr lang="en-US" dirty="0"/>
              <a:t> </a:t>
            </a:r>
            <a:r>
              <a:rPr lang="en-NG" dirty="0"/>
              <a:t>Over the past few years, the management has observed fluctuating revenue trends and a steady decline in overall sales performance.</a:t>
            </a:r>
            <a:endParaRPr lang="en-US" dirty="0"/>
          </a:p>
          <a:p>
            <a:pPr lvl="0">
              <a:buFont typeface="Wingdings" panose="05000000000000000000" pitchFamily="2" charset="2"/>
              <a:buChar char="q"/>
            </a:pPr>
            <a:r>
              <a:rPr lang="en-US" dirty="0"/>
              <a:t>Therefore, the </a:t>
            </a:r>
            <a:r>
              <a:rPr lang="en-NG" dirty="0"/>
              <a:t>Executive leadership requires clarity on root causes and corrective actions</a:t>
            </a:r>
          </a:p>
          <a:p>
            <a:endParaRPr lang="en-US" dirty="0"/>
          </a:p>
          <a:p>
            <a:endParaRPr lang="en-N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738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A1B47C8-47A0-4A88-8830-6DEA3B5DE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chool and office supplies">
            <a:extLst>
              <a:ext uri="{FF2B5EF4-FFF2-40B4-BE49-F238E27FC236}">
                <a16:creationId xmlns:a16="http://schemas.microsoft.com/office/drawing/2014/main" id="{E9D53ACE-A4C3-11E5-B540-C96CFACB88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190" r="5476" b="-1"/>
          <a:stretch>
            <a:fillRect/>
          </a:stretch>
        </p:blipFill>
        <p:spPr>
          <a:xfrm>
            <a:off x="1292790" y="640080"/>
            <a:ext cx="4958086" cy="557784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84BBFDD-E720-4805-A9C8-129FBBF6D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7613486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70ED05-8851-7FBC-9D13-4181CF521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885" y="640080"/>
            <a:ext cx="3659246" cy="10634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EE70F-344D-C098-A4AD-1A6B3945B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6885" y="2100944"/>
            <a:ext cx="3659246" cy="4116976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US" sz="2200" cap="none" dirty="0">
                <a:solidFill>
                  <a:schemeClr val="bg1"/>
                </a:solidFill>
                <a:latin typeface="+mn-lt"/>
              </a:rPr>
              <a:t>T</a:t>
            </a:r>
            <a:r>
              <a:rPr lang="en-NG" sz="2200" cap="none" dirty="0">
                <a:solidFill>
                  <a:schemeClr val="bg1"/>
                </a:solidFill>
                <a:latin typeface="+mn-lt"/>
              </a:rPr>
              <a:t>o use historical sales data to</a:t>
            </a:r>
            <a:r>
              <a:rPr lang="en-US" cap="none" dirty="0">
                <a:solidFill>
                  <a:schemeClr val="bg1"/>
                </a:solidFill>
                <a:latin typeface="+mn-lt"/>
              </a:rPr>
              <a:t>:</a:t>
            </a:r>
            <a:r>
              <a:rPr lang="en-NG" cap="none" dirty="0">
                <a:solidFill>
                  <a:schemeClr val="bg1"/>
                </a:solidFill>
                <a:latin typeface="+mn-lt"/>
              </a:rPr>
              <a:t> </a:t>
            </a:r>
            <a:endParaRPr lang="en-US" cap="none" dirty="0">
              <a:solidFill>
                <a:schemeClr val="bg1"/>
              </a:solidFill>
              <a:latin typeface="+mn-lt"/>
            </a:endParaRPr>
          </a:p>
          <a:p>
            <a:pPr marL="342900" lvl="0" indent="-34290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NG" sz="2200" cap="none" dirty="0">
                <a:solidFill>
                  <a:schemeClr val="bg1"/>
                </a:solidFill>
                <a:latin typeface="+mn-lt"/>
              </a:rPr>
              <a:t>Identify when and where sales began to decline</a:t>
            </a:r>
            <a:endParaRPr lang="en-US" sz="2200" cap="none" dirty="0">
              <a:solidFill>
                <a:schemeClr val="bg1"/>
              </a:solidFill>
              <a:latin typeface="+mn-lt"/>
            </a:endParaRPr>
          </a:p>
          <a:p>
            <a:pPr marL="342900" lvl="0" indent="-34290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NG" sz="2200" cap="none" dirty="0">
                <a:solidFill>
                  <a:schemeClr val="bg1"/>
                </a:solidFill>
                <a:latin typeface="+mn-lt"/>
              </a:rPr>
              <a:t>Detect sources of revenue</a:t>
            </a:r>
            <a:r>
              <a:rPr lang="en-US" sz="2200" cap="none" dirty="0">
                <a:solidFill>
                  <a:schemeClr val="bg1"/>
                </a:solidFill>
                <a:latin typeface="+mn-lt"/>
              </a:rPr>
              <a:t> &amp;minimize </a:t>
            </a:r>
            <a:r>
              <a:rPr lang="en-NG" sz="2200" cap="none" dirty="0">
                <a:solidFill>
                  <a:schemeClr val="bg1"/>
                </a:solidFill>
                <a:latin typeface="+mn-lt"/>
              </a:rPr>
              <a:t> leakage</a:t>
            </a:r>
            <a:endParaRPr lang="en-US" sz="2200" cap="none" dirty="0">
              <a:solidFill>
                <a:schemeClr val="bg1"/>
              </a:solidFill>
              <a:latin typeface="+mn-lt"/>
            </a:endParaRPr>
          </a:p>
          <a:p>
            <a:pPr marL="342900" lvl="0" indent="-34290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NG" sz="2200" cap="none" dirty="0">
                <a:solidFill>
                  <a:schemeClr val="bg1"/>
                </a:solidFill>
                <a:latin typeface="+mn-lt"/>
              </a:rPr>
              <a:t>Recommend data-driven strategies to restore growth and profitability</a:t>
            </a:r>
            <a:endParaRPr lang="en-US" sz="2200" cap="none" dirty="0">
              <a:solidFill>
                <a:schemeClr val="bg1"/>
              </a:solidFill>
              <a:latin typeface="+mn-lt"/>
            </a:endParaRPr>
          </a:p>
          <a:p>
            <a:br>
              <a:rPr lang="en-NG" dirty="0">
                <a:latin typeface="+mn-lt"/>
              </a:rPr>
            </a:br>
            <a:endParaRPr lang="en-NG" dirty="0">
              <a:latin typeface="+mn-lt"/>
            </a:endParaRPr>
          </a:p>
          <a:p>
            <a:pPr marL="342900" lvl="0" indent="-34290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NG" cap="none" dirty="0">
              <a:solidFill>
                <a:schemeClr val="bg1"/>
              </a:solidFill>
            </a:endParaRPr>
          </a:p>
          <a:p>
            <a:endParaRPr lang="en-US" sz="2000" cap="none" dirty="0">
              <a:solidFill>
                <a:schemeClr val="bg1"/>
              </a:solidFill>
              <a:latin typeface="+mn-lt"/>
            </a:endParaRPr>
          </a:p>
          <a:p>
            <a:endParaRPr lang="en-US" sz="2000" cap="none" dirty="0">
              <a:solidFill>
                <a:schemeClr val="bg1"/>
              </a:solidFill>
              <a:latin typeface="+mn-lt"/>
            </a:endParaRPr>
          </a:p>
          <a:p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C4BE46-4A77-42FE-9D15-065CDB2F8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906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11410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DB8182-B416-363A-F2C4-3B6242C7D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AA12A8-23A6-FF31-DBED-DF8ABB703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600" b="1" dirty="0"/>
              <a:t>Dataset Overview</a:t>
            </a:r>
            <a:br>
              <a:rPr lang="en-US" sz="2600" dirty="0"/>
            </a:br>
            <a:r>
              <a:rPr lang="en-US" sz="2600" dirty="0"/>
              <a:t>Period: </a:t>
            </a:r>
            <a:r>
              <a:rPr lang="en-US" sz="2600" b="1" dirty="0"/>
              <a:t>2018–2022</a:t>
            </a:r>
            <a:br>
              <a:rPr lang="en-US" sz="2600" dirty="0"/>
            </a:br>
            <a:r>
              <a:rPr lang="en-US" sz="2600" dirty="0"/>
              <a:t>Transactions across European markets</a:t>
            </a:r>
            <a:br>
              <a:rPr lang="en-US" sz="2600" dirty="0"/>
            </a:br>
            <a:br>
              <a:rPr lang="en-US" sz="2600" dirty="0"/>
            </a:br>
            <a:r>
              <a:rPr lang="en-US" sz="2600" dirty="0"/>
              <a:t>Key fields: Product, Category, Country, Quantity, Discount %, Net Revenue</a:t>
            </a:r>
            <a:br>
              <a:rPr lang="en-US" sz="2600" dirty="0"/>
            </a:br>
            <a:br>
              <a:rPr lang="en-US" sz="2600" dirty="0"/>
            </a:br>
            <a:r>
              <a:rPr lang="en-US" sz="2600" b="1" dirty="0"/>
              <a:t>Analytical Approach</a:t>
            </a:r>
            <a:br>
              <a:rPr lang="en-US" sz="2600" dirty="0"/>
            </a:br>
            <a:r>
              <a:rPr lang="en-US" sz="2600" dirty="0"/>
              <a:t>Built a Power Pivot data model</a:t>
            </a:r>
            <a:br>
              <a:rPr lang="en-US" sz="2600" dirty="0"/>
            </a:br>
            <a:r>
              <a:rPr lang="en-US" sz="2600" dirty="0"/>
              <a:t>Created DAX measures for Net Revenue, Growth, Seasonality</a:t>
            </a:r>
            <a:br>
              <a:rPr lang="en-US" sz="2600" dirty="0"/>
            </a:br>
            <a:r>
              <a:rPr lang="en-US" sz="2600" dirty="0"/>
              <a:t>Developed  an Executive-level Pivot dashboard</a:t>
            </a:r>
            <a:br>
              <a:rPr lang="en-US" sz="2600" dirty="0"/>
            </a:br>
            <a:endParaRPr lang="en-US" sz="2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17926-B375-5363-0A08-BEDCBF7E2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0051" y="6098920"/>
            <a:ext cx="10058400" cy="269320"/>
          </a:xfrm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 lvl="0"/>
            <a:endParaRPr lang="en-US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851916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AB70B-A57D-80E0-B321-E7761E0FB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943" y="609600"/>
            <a:ext cx="10546669" cy="1360714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Key Performance Indicators  (KPIs)</a:t>
            </a:r>
            <a:endParaRPr lang="en-NG" dirty="0">
              <a:solidFill>
                <a:schemeClr val="accent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3B20D2-D57E-0762-F83B-F8E6E3E31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5000" y="2090057"/>
            <a:ext cx="9599611" cy="381985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en-NG" dirty="0"/>
          </a:p>
        </p:txBody>
      </p:sp>
      <p:sp>
        <p:nvSpPr>
          <p:cNvPr id="4" name="Octagon 3">
            <a:extLst>
              <a:ext uri="{FF2B5EF4-FFF2-40B4-BE49-F238E27FC236}">
                <a16:creationId xmlns:a16="http://schemas.microsoft.com/office/drawing/2014/main" id="{A4BE38A1-3C44-CFA5-3805-1B86C55B74B5}"/>
              </a:ext>
            </a:extLst>
          </p:cNvPr>
          <p:cNvSpPr/>
          <p:nvPr/>
        </p:nvSpPr>
        <p:spPr>
          <a:xfrm>
            <a:off x="2269672" y="2318657"/>
            <a:ext cx="1850572" cy="1393371"/>
          </a:xfrm>
          <a:prstGeom prst="octagon">
            <a:avLst/>
          </a:prstGeom>
          <a:solidFill>
            <a:schemeClr val="accent2"/>
          </a:solidFill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  <a:reflection blurRad="6350" stA="52000" endA="300" endPos="35000" dir="5400000" sy="-100000" algn="bl" rotWithShape="0"/>
          </a:effectLst>
          <a:scene3d>
            <a:camera prst="isometricOffAxis1Right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Net Revenue</a:t>
            </a:r>
          </a:p>
          <a:p>
            <a:pPr algn="ctr"/>
            <a:endParaRPr lang="en-US" sz="1800" b="0" i="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£1,019,227</a:t>
            </a:r>
            <a:endParaRPr lang="en-NG" dirty="0">
              <a:solidFill>
                <a:schemeClr val="bg1"/>
              </a:solidFill>
            </a:endParaRPr>
          </a:p>
        </p:txBody>
      </p:sp>
      <p:sp>
        <p:nvSpPr>
          <p:cNvPr id="8" name="Octagon 7">
            <a:extLst>
              <a:ext uri="{FF2B5EF4-FFF2-40B4-BE49-F238E27FC236}">
                <a16:creationId xmlns:a16="http://schemas.microsoft.com/office/drawing/2014/main" id="{90D9CA1F-3518-72F4-29EA-F887D29305A9}"/>
              </a:ext>
            </a:extLst>
          </p:cNvPr>
          <p:cNvSpPr/>
          <p:nvPr/>
        </p:nvSpPr>
        <p:spPr>
          <a:xfrm>
            <a:off x="5153593" y="2318656"/>
            <a:ext cx="1931420" cy="1393371"/>
          </a:xfrm>
          <a:prstGeom prst="octagon">
            <a:avLst/>
          </a:prstGeom>
          <a:solidFill>
            <a:schemeClr val="accent2"/>
          </a:solidFill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  <a:reflection blurRad="6350" stA="52000" endA="300" endPos="35000" dir="5400000" sy="-100000" algn="bl" rotWithShape="0"/>
          </a:effectLst>
          <a:scene3d>
            <a:camera prst="isometricOffAxis1Right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YOY Revenue Growth%</a:t>
            </a:r>
            <a:endParaRPr lang="en-NG" b="1" dirty="0">
              <a:solidFill>
                <a:schemeClr val="bg1"/>
              </a:solidFill>
            </a:endParaRPr>
          </a:p>
          <a:p>
            <a:pPr algn="ctr"/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23.68%</a:t>
            </a:r>
          </a:p>
          <a:p>
            <a:pPr algn="ctr"/>
            <a:endParaRPr lang="en-NG" dirty="0">
              <a:solidFill>
                <a:schemeClr val="bg1"/>
              </a:solidFill>
            </a:endParaRP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18D46610-FBA3-DD22-C2E8-E52011CF6D96}"/>
              </a:ext>
            </a:extLst>
          </p:cNvPr>
          <p:cNvSpPr/>
          <p:nvPr/>
        </p:nvSpPr>
        <p:spPr>
          <a:xfrm>
            <a:off x="8436428" y="2318656"/>
            <a:ext cx="1850572" cy="1393372"/>
          </a:xfrm>
          <a:prstGeom prst="octagon">
            <a:avLst/>
          </a:prstGeom>
          <a:solidFill>
            <a:schemeClr val="accent2"/>
          </a:solidFill>
          <a:ln w="34925"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  <a:reflection blurRad="6350" stA="52000" endA="300" endPos="35000" dir="5400000" sy="-100000" algn="bl" rotWithShape="0"/>
          </a:effectLst>
          <a:scene3d>
            <a:camera prst="isometricOffAxis1Right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Total Orders</a:t>
            </a:r>
          </a:p>
          <a:p>
            <a:pPr algn="ctr"/>
            <a:r>
              <a:rPr lang="en-US" dirty="0"/>
              <a:t>9,207</a:t>
            </a:r>
            <a:endParaRPr lang="en-NG" dirty="0"/>
          </a:p>
        </p:txBody>
      </p:sp>
      <p:sp>
        <p:nvSpPr>
          <p:cNvPr id="14" name="Octagon 13">
            <a:extLst>
              <a:ext uri="{FF2B5EF4-FFF2-40B4-BE49-F238E27FC236}">
                <a16:creationId xmlns:a16="http://schemas.microsoft.com/office/drawing/2014/main" id="{BED530C2-1569-F959-7B45-A3C19039D92A}"/>
              </a:ext>
            </a:extLst>
          </p:cNvPr>
          <p:cNvSpPr/>
          <p:nvPr/>
        </p:nvSpPr>
        <p:spPr>
          <a:xfrm>
            <a:off x="2464822" y="4223140"/>
            <a:ext cx="1948542" cy="1393371"/>
          </a:xfrm>
          <a:prstGeom prst="octagon">
            <a:avLst/>
          </a:prstGeom>
          <a:solidFill>
            <a:schemeClr val="accent2"/>
          </a:solidFill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84150" dist="241300" dir="11520000" sx="110000" sy="110000" algn="ctr">
              <a:srgbClr val="000000">
                <a:alpha val="18000"/>
              </a:srgbClr>
            </a:outerShdw>
            <a:reflection blurRad="6350" stA="52000" endA="300" endPos="35000" dir="5400000" sy="-100000" algn="bl" rotWithShape="0"/>
          </a:effectLst>
          <a:scene3d>
            <a:camera prst="isometricOffAxis1Right"/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Average Order Value</a:t>
            </a:r>
          </a:p>
          <a:p>
            <a:pPr algn="ctr"/>
            <a:r>
              <a:rPr lang="en-US" dirty="0"/>
              <a:t>£111</a:t>
            </a:r>
            <a:endParaRPr lang="en-NG" dirty="0"/>
          </a:p>
        </p:txBody>
      </p:sp>
      <p:sp>
        <p:nvSpPr>
          <p:cNvPr id="15" name="Octagon 14">
            <a:extLst>
              <a:ext uri="{FF2B5EF4-FFF2-40B4-BE49-F238E27FC236}">
                <a16:creationId xmlns:a16="http://schemas.microsoft.com/office/drawing/2014/main" id="{16B50C29-9D9C-1288-94FF-B435214FC832}"/>
              </a:ext>
            </a:extLst>
          </p:cNvPr>
          <p:cNvSpPr/>
          <p:nvPr/>
        </p:nvSpPr>
        <p:spPr>
          <a:xfrm>
            <a:off x="5998029" y="4114284"/>
            <a:ext cx="2062844" cy="1393371"/>
          </a:xfrm>
          <a:prstGeom prst="octagon">
            <a:avLst/>
          </a:prstGeom>
          <a:solidFill>
            <a:schemeClr val="accent2"/>
          </a:solidFill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  <a:reflection blurRad="6350" stA="52000" endA="300" endPos="35000" dir="5400000" sy="-100000" algn="bl" rotWithShape="0"/>
          </a:effectLst>
          <a:scene3d>
            <a:camera prst="isometricOffAxis1Right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Peak Month Revenue</a:t>
            </a:r>
          </a:p>
          <a:p>
            <a:pPr algn="ctr"/>
            <a:r>
              <a:rPr lang="en-US" dirty="0"/>
              <a:t>£92,543</a:t>
            </a:r>
            <a:endParaRPr lang="en-NG" dirty="0"/>
          </a:p>
        </p:txBody>
      </p:sp>
      <p:sp>
        <p:nvSpPr>
          <p:cNvPr id="16" name="Octagon 15">
            <a:extLst>
              <a:ext uri="{FF2B5EF4-FFF2-40B4-BE49-F238E27FC236}">
                <a16:creationId xmlns:a16="http://schemas.microsoft.com/office/drawing/2014/main" id="{F6D59120-3147-E5F5-9D16-0CC2C271B3A4}"/>
              </a:ext>
            </a:extLst>
          </p:cNvPr>
          <p:cNvSpPr/>
          <p:nvPr/>
        </p:nvSpPr>
        <p:spPr>
          <a:xfrm>
            <a:off x="8631578" y="4114283"/>
            <a:ext cx="1850572" cy="1393372"/>
          </a:xfrm>
          <a:prstGeom prst="octagon">
            <a:avLst/>
          </a:prstGeom>
          <a:solidFill>
            <a:schemeClr val="accent2"/>
          </a:solidFill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  <a:reflection blurRad="6350" stA="52000" endA="300" endPos="35000" dir="5400000" sy="-100000" algn="bl" rotWithShape="0"/>
          </a:effectLst>
          <a:scene3d>
            <a:camera prst="isometricOffAxis1Right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Low Month Revenue</a:t>
            </a:r>
          </a:p>
          <a:p>
            <a:pPr algn="ctr"/>
            <a:r>
              <a:rPr lang="en-US" dirty="0"/>
              <a:t>£78,404</a:t>
            </a:r>
            <a:endParaRPr lang="en-NG" dirty="0"/>
          </a:p>
        </p:txBody>
      </p:sp>
      <p:sp>
        <p:nvSpPr>
          <p:cNvPr id="5" name="TextBox 30">
            <a:extLst>
              <a:ext uri="{FF2B5EF4-FFF2-40B4-BE49-F238E27FC236}">
                <a16:creationId xmlns:a16="http://schemas.microsoft.com/office/drawing/2014/main" id="{1A8C41F6-E0F6-8EEA-836F-24722640B2DF}"/>
              </a:ext>
            </a:extLst>
          </p:cNvPr>
          <p:cNvSpPr txBox="1"/>
          <p:nvPr/>
        </p:nvSpPr>
        <p:spPr>
          <a:xfrm>
            <a:off x="4980216" y="3080656"/>
            <a:ext cx="1436119" cy="43543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NG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41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5BC3741-4B6B-EA4C-E31B-37E187C77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8794"/>
            <a:ext cx="4005943" cy="1089820"/>
          </a:xfrm>
        </p:spPr>
        <p:txBody>
          <a:bodyPr>
            <a:normAutofit/>
          </a:bodyPr>
          <a:lstStyle/>
          <a:p>
            <a:r>
              <a:rPr lang="en-US" sz="2400" dirty="0"/>
              <a:t>Sales Performance Overview (Yearly)</a:t>
            </a:r>
            <a:br>
              <a:rPr lang="en-NG" sz="2400" dirty="0"/>
            </a:br>
            <a:endParaRPr lang="en-NG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21422F-C79B-D8FD-E9CA-01CCC6932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857" y="1480457"/>
            <a:ext cx="4005943" cy="4380593"/>
          </a:xfrm>
        </p:spPr>
        <p:txBody>
          <a:bodyPr/>
          <a:lstStyle/>
          <a:p>
            <a:pPr marL="285750" indent="-285750"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q"/>
            </a:pPr>
            <a:endParaRPr lang="en-US" dirty="0"/>
          </a:p>
          <a:p>
            <a:r>
              <a:rPr lang="en-NG" b="1" dirty="0"/>
              <a:t>Key Findings</a:t>
            </a:r>
            <a:r>
              <a:rPr lang="en-US" b="1" dirty="0"/>
              <a:t>:</a:t>
            </a:r>
            <a:endParaRPr lang="en-NG" dirty="0"/>
          </a:p>
          <a:p>
            <a:pPr lvl="0"/>
            <a:r>
              <a:rPr lang="en-NG" b="1" dirty="0"/>
              <a:t>Revenue peaked in 2021 (£220k)</a:t>
            </a:r>
            <a:endParaRPr lang="en-NG" dirty="0"/>
          </a:p>
          <a:p>
            <a:pPr lvl="0"/>
            <a:r>
              <a:rPr lang="en-NG" b="1" dirty="0"/>
              <a:t>Decline observed in 2022 (£195k)</a:t>
            </a:r>
            <a:endParaRPr lang="en-NG" dirty="0"/>
          </a:p>
          <a:p>
            <a:pPr lvl="0"/>
            <a:r>
              <a:rPr lang="en-NG" b="1" dirty="0"/>
              <a:t>Growth trend reversed after steady improvement</a:t>
            </a:r>
          </a:p>
          <a:p>
            <a:r>
              <a:rPr lang="en-NG" b="1" dirty="0"/>
              <a:t>Insight</a:t>
            </a:r>
            <a:r>
              <a:rPr lang="en-US" b="1" dirty="0"/>
              <a:t>s</a:t>
            </a:r>
            <a:endParaRPr lang="en-NG" b="1" dirty="0"/>
          </a:p>
          <a:p>
            <a:r>
              <a:rPr lang="en-NG" b="1" dirty="0"/>
              <a:t>➡ The sales decline is recent and structural, not random</a:t>
            </a:r>
            <a:br>
              <a:rPr lang="en-NG" b="1" dirty="0"/>
            </a:br>
            <a:r>
              <a:rPr lang="en-NG" b="1" dirty="0"/>
              <a:t>➡ Signals changes in pricing, campaign effectiveness, or product strategy</a:t>
            </a:r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q"/>
            </a:pPr>
            <a:endParaRPr lang="en-US" dirty="0"/>
          </a:p>
        </p:txBody>
      </p:sp>
      <p:graphicFrame>
        <p:nvGraphicFramePr>
          <p:cNvPr id="27" name="Content Placeholder 26">
            <a:extLst>
              <a:ext uri="{FF2B5EF4-FFF2-40B4-BE49-F238E27FC236}">
                <a16:creationId xmlns:a16="http://schemas.microsoft.com/office/drawing/2014/main" id="{D87C1048-4321-C737-81C1-D09E4859BB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8850933"/>
              </p:ext>
            </p:extLst>
          </p:nvPr>
        </p:nvGraphicFramePr>
        <p:xfrm>
          <a:off x="4223658" y="315686"/>
          <a:ext cx="7069818" cy="5673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19540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3FE9996-7EAC-4679-B37D-C1045F42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1DF1FE-5CC8-43D2-A76C-93C76EED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161BEBD-A23C-409E-ABC7-73F9EDC02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5BC3741-4B6B-EA4C-E31B-37E187C77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Quarterly Revenue Analysis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21422F-C79B-D8FD-E9CA-01CCC693207B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4742016" y="605896"/>
            <a:ext cx="6413663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dirty="0"/>
              <a:t>Observations: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dirty="0"/>
              <a:t>Q2 and Q3 consistently outperform other quarters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Q1 and Q4 show recurring underperformance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Q4 weakness persists even during traditionally strong retail periods</a:t>
            </a:r>
          </a:p>
          <a:p>
            <a:r>
              <a:rPr lang="en-US" dirty="0"/>
              <a:t>Insights</a:t>
            </a:r>
          </a:p>
          <a:p>
            <a:r>
              <a:rPr lang="en-US" dirty="0"/>
              <a:t>➡ Seasonal opportunities are not fully capitalized</a:t>
            </a:r>
            <a:br>
              <a:rPr lang="en-US" dirty="0"/>
            </a:br>
            <a:r>
              <a:rPr lang="en-US" dirty="0"/>
              <a:t>➡ Campaign timing and execution need optimization</a:t>
            </a:r>
          </a:p>
        </p:txBody>
      </p:sp>
    </p:spTree>
    <p:extLst>
      <p:ext uri="{BB962C8B-B14F-4D97-AF65-F5344CB8AC3E}">
        <p14:creationId xmlns:p14="http://schemas.microsoft.com/office/powerpoint/2010/main" val="482583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5BC3741-4B6B-EA4C-E31B-37E187C77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965" y="290867"/>
            <a:ext cx="10058400" cy="873905"/>
          </a:xfrm>
        </p:spPr>
        <p:txBody>
          <a:bodyPr>
            <a:normAutofit fontScale="90000"/>
          </a:bodyPr>
          <a:lstStyle/>
          <a:p>
            <a:r>
              <a:rPr lang="en-NG" b="1" dirty="0"/>
              <a:t> </a:t>
            </a:r>
            <a:r>
              <a:rPr lang="en-NG" sz="2700" b="1" dirty="0"/>
              <a:t>Monthly Seasonality </a:t>
            </a:r>
            <a:r>
              <a:rPr lang="en-US" sz="2700" b="1" dirty="0"/>
              <a:t>Analysis</a:t>
            </a:r>
            <a:endParaRPr lang="en-NG" sz="2700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21422F-C79B-D8FD-E9CA-01CCC6932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965" y="1164771"/>
            <a:ext cx="10342233" cy="4696201"/>
          </a:xfrm>
        </p:spPr>
        <p:txBody>
          <a:bodyPr>
            <a:noAutofit/>
          </a:bodyPr>
          <a:lstStyle/>
          <a:p>
            <a:pPr>
              <a:buClr>
                <a:schemeClr val="bg2">
                  <a:lumMod val="50000"/>
                </a:schemeClr>
              </a:buClr>
            </a:pPr>
            <a:endParaRPr lang="en-US" sz="2000" dirty="0"/>
          </a:p>
          <a:p>
            <a:pPr>
              <a:buClr>
                <a:schemeClr val="bg2">
                  <a:lumMod val="50000"/>
                </a:schemeClr>
              </a:buClr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NG" sz="1800" cap="none" dirty="0">
                <a:solidFill>
                  <a:schemeClr val="tx1"/>
                </a:solidFill>
              </a:rPr>
              <a:t>Revenue Patterns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NG" sz="1800" cap="none" dirty="0">
                <a:solidFill>
                  <a:schemeClr val="tx1"/>
                </a:solidFill>
              </a:rPr>
              <a:t>Peak Month: </a:t>
            </a:r>
            <a:r>
              <a:rPr lang="en-US" sz="1800" cap="none" dirty="0">
                <a:solidFill>
                  <a:schemeClr val="tx1"/>
                </a:solidFill>
              </a:rPr>
              <a:t>           </a:t>
            </a:r>
            <a:r>
              <a:rPr lang="en-NG" sz="1800" cap="none" dirty="0">
                <a:solidFill>
                  <a:schemeClr val="tx1"/>
                </a:solidFill>
              </a:rPr>
              <a:t>May (£92,543)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NG" sz="1800" cap="none" dirty="0">
                <a:solidFill>
                  <a:schemeClr val="tx1"/>
                </a:solidFill>
              </a:rPr>
              <a:t>Lowest Month: </a:t>
            </a:r>
            <a:r>
              <a:rPr lang="en-US" sz="1800" cap="none" dirty="0">
                <a:solidFill>
                  <a:schemeClr val="tx1"/>
                </a:solidFill>
              </a:rPr>
              <a:t>        </a:t>
            </a:r>
            <a:r>
              <a:rPr lang="en-NG" sz="1800" cap="none" dirty="0">
                <a:solidFill>
                  <a:schemeClr val="tx1"/>
                </a:solidFill>
              </a:rPr>
              <a:t>November (£78,404)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NG" sz="1800" cap="none" dirty="0">
                <a:solidFill>
                  <a:schemeClr val="tx1"/>
                </a:solidFill>
              </a:rPr>
              <a:t>Noticeable Volatility Across Months</a:t>
            </a:r>
          </a:p>
          <a:p>
            <a:r>
              <a:rPr lang="en-US" sz="1800" cap="none" dirty="0">
                <a:solidFill>
                  <a:schemeClr val="tx1"/>
                </a:solidFill>
              </a:rPr>
              <a:t>   </a:t>
            </a:r>
          </a:p>
          <a:p>
            <a:endParaRPr lang="en-US" sz="1800" cap="none" dirty="0">
              <a:solidFill>
                <a:schemeClr val="tx1"/>
              </a:solidFill>
            </a:endParaRPr>
          </a:p>
          <a:p>
            <a:r>
              <a:rPr lang="en-NG" sz="1800" cap="none" dirty="0">
                <a:solidFill>
                  <a:schemeClr val="tx1"/>
                </a:solidFill>
              </a:rPr>
              <a:t>Insight</a:t>
            </a:r>
            <a:r>
              <a:rPr lang="en-US" sz="1800" cap="none" dirty="0">
                <a:solidFill>
                  <a:schemeClr val="tx1"/>
                </a:solidFill>
              </a:rPr>
              <a:t>s</a:t>
            </a:r>
          </a:p>
          <a:p>
            <a:r>
              <a:rPr lang="en-NG" sz="1800" cap="none" dirty="0">
                <a:solidFill>
                  <a:schemeClr val="tx1"/>
                </a:solidFill>
              </a:rPr>
              <a:t>➡ Revenue Is Highly Seasonal</a:t>
            </a:r>
            <a:br>
              <a:rPr lang="en-NG" sz="1800" cap="none" dirty="0">
                <a:solidFill>
                  <a:schemeClr val="tx1"/>
                </a:solidFill>
              </a:rPr>
            </a:br>
            <a:r>
              <a:rPr lang="en-NG" sz="1800" cap="none" dirty="0">
                <a:solidFill>
                  <a:schemeClr val="tx1"/>
                </a:solidFill>
              </a:rPr>
              <a:t>➡ Targeted Promotions Do Not Sufficiently Support Weak Months</a:t>
            </a:r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q"/>
            </a:pPr>
            <a:endParaRPr lang="en-NG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025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5BC3741-4B6B-EA4C-E31B-37E187C77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8197" y="678940"/>
            <a:ext cx="4514395" cy="636020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       </a:t>
            </a:r>
            <a:r>
              <a:rPr lang="en-NG" sz="2200" b="1" dirty="0"/>
              <a:t>Discount Pattern</a:t>
            </a:r>
            <a:r>
              <a:rPr lang="en-US" sz="2200" b="1" dirty="0"/>
              <a:t>s &amp;</a:t>
            </a:r>
            <a:r>
              <a:rPr lang="en-NG" sz="2200" b="1" dirty="0"/>
              <a:t> Campaign Impact</a:t>
            </a:r>
            <a:endParaRPr lang="en-NG" sz="2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21422F-C79B-D8FD-E9CA-01CCC6932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169" y="1443210"/>
            <a:ext cx="4056029" cy="4417840"/>
          </a:xfrm>
        </p:spPr>
        <p:txBody>
          <a:bodyPr>
            <a:normAutofit lnSpcReduction="10000"/>
          </a:bodyPr>
          <a:lstStyle/>
          <a:p>
            <a:pPr>
              <a:buClr>
                <a:schemeClr val="bg2">
                  <a:lumMod val="50000"/>
                </a:schemeClr>
              </a:buClr>
            </a:pPr>
            <a:endParaRPr lang="en-US" dirty="0"/>
          </a:p>
          <a:p>
            <a:r>
              <a:rPr lang="en-NG" sz="2000" dirty="0"/>
              <a:t>Key Observations</a:t>
            </a:r>
            <a:r>
              <a:rPr lang="en-US" sz="2000" dirty="0"/>
              <a:t>:</a:t>
            </a:r>
            <a:endParaRPr lang="en-NG" sz="2000" dirty="0"/>
          </a:p>
          <a:p>
            <a:pPr marL="342900" lvl="0" indent="-34290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NG" sz="2000" dirty="0"/>
              <a:t>Average discount remains stable at ~15% year-round</a:t>
            </a:r>
          </a:p>
          <a:p>
            <a:pPr marL="342900" lvl="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NG" sz="2000" dirty="0"/>
              <a:t>Higher discounts do not consistently drive higher revenue</a:t>
            </a:r>
          </a:p>
          <a:p>
            <a:pPr marL="342900" lvl="0" indent="-34290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NG" sz="2000" dirty="0"/>
              <a:t>Some low-discount months still record revenue declines</a:t>
            </a:r>
          </a:p>
          <a:p>
            <a:r>
              <a:rPr lang="en-NG" sz="2000" dirty="0"/>
              <a:t>Insight</a:t>
            </a:r>
            <a:r>
              <a:rPr lang="en-US" sz="2000" dirty="0"/>
              <a:t>s</a:t>
            </a:r>
            <a:endParaRPr lang="en-NG" sz="2000" dirty="0"/>
          </a:p>
          <a:p>
            <a:r>
              <a:rPr lang="en-NG" sz="2000" dirty="0"/>
              <a:t>➡ Blanket discounting causes revenue leakage</a:t>
            </a:r>
            <a:br>
              <a:rPr lang="en-NG" sz="2000" dirty="0"/>
            </a:br>
            <a:r>
              <a:rPr lang="en-NG" sz="2000" dirty="0"/>
              <a:t>➡ Discount strategy lacks precision and ROI measurement</a:t>
            </a:r>
          </a:p>
          <a:p>
            <a:pPr>
              <a:buClr>
                <a:schemeClr val="bg2">
                  <a:lumMod val="50000"/>
                </a:schemeClr>
              </a:buClr>
            </a:pPr>
            <a:endParaRPr lang="en-US" sz="18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q"/>
            </a:pPr>
            <a:endParaRPr lang="en-NG" sz="1800" dirty="0">
              <a:solidFill>
                <a:schemeClr val="bg2">
                  <a:lumMod val="50000"/>
                </a:schemeClr>
              </a:solidFill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ACCF08F-DF3B-4284-EA62-6198101EC0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0795996"/>
              </p:ext>
            </p:extLst>
          </p:nvPr>
        </p:nvGraphicFramePr>
        <p:xfrm>
          <a:off x="4318612" y="330505"/>
          <a:ext cx="7763219" cy="5692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3315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C0FAC-3880-12BC-2856-92CF64C3E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204D6D6-12D0-667B-0D1A-B1C54D33A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8197" y="678940"/>
            <a:ext cx="4514395" cy="636020"/>
          </a:xfrm>
        </p:spPr>
        <p:txBody>
          <a:bodyPr>
            <a:normAutofit/>
          </a:bodyPr>
          <a:lstStyle/>
          <a:p>
            <a:r>
              <a:rPr lang="en-US" sz="2400" b="1" dirty="0"/>
              <a:t>     </a:t>
            </a:r>
            <a:r>
              <a:rPr lang="en-NG" sz="2400" b="1" dirty="0"/>
              <a:t>Product Performance Analysis</a:t>
            </a:r>
            <a:endParaRPr lang="en-NG" sz="2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88DD886-7359-E4F3-1577-938F943AC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170" y="1443210"/>
            <a:ext cx="3922004" cy="4735850"/>
          </a:xfrm>
        </p:spPr>
        <p:txBody>
          <a:bodyPr>
            <a:normAutofit fontScale="77500" lnSpcReduction="20000"/>
          </a:bodyPr>
          <a:lstStyle/>
          <a:p>
            <a:pPr>
              <a:buClr>
                <a:schemeClr val="bg2">
                  <a:lumMod val="50000"/>
                </a:schemeClr>
              </a:buClr>
            </a:pPr>
            <a:endParaRPr lang="en-US" sz="18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NG" sz="2300" b="1" dirty="0"/>
              <a:t>Top Revenue Contributors</a:t>
            </a:r>
            <a:endParaRPr lang="en-NG" sz="2300" dirty="0"/>
          </a:p>
          <a:p>
            <a:pPr lvl="0"/>
            <a:r>
              <a:rPr lang="en-NG" sz="2300" dirty="0"/>
              <a:t>Toy Car, Wireless Mouse, Mug, Bag, Lamp</a:t>
            </a:r>
          </a:p>
          <a:p>
            <a:pPr lvl="0"/>
            <a:r>
              <a:rPr lang="en-NG" sz="2300" dirty="0"/>
              <a:t>High volume and strong revenue contribution</a:t>
            </a:r>
          </a:p>
          <a:p>
            <a:r>
              <a:rPr lang="en-NG" sz="2300" b="1" dirty="0"/>
              <a:t>Underperforming Products</a:t>
            </a:r>
            <a:endParaRPr lang="en-NG" sz="2300" dirty="0"/>
          </a:p>
          <a:p>
            <a:pPr lvl="0"/>
            <a:r>
              <a:rPr lang="en-NG" sz="2300" dirty="0"/>
              <a:t>Gift Wrap, Notebook, Pen Set, Clock, Candle Set</a:t>
            </a:r>
          </a:p>
          <a:p>
            <a:pPr lvl="0"/>
            <a:r>
              <a:rPr lang="en-NG" sz="2300" dirty="0"/>
              <a:t>Low revenue impact despite ongoing sales</a:t>
            </a:r>
          </a:p>
          <a:p>
            <a:r>
              <a:rPr lang="en-NG" sz="2300" b="1" dirty="0"/>
              <a:t>Insight</a:t>
            </a:r>
            <a:r>
              <a:rPr lang="en-US" sz="2300" b="1" dirty="0"/>
              <a:t>s</a:t>
            </a:r>
            <a:endParaRPr lang="en-NG" sz="2300" dirty="0"/>
          </a:p>
          <a:p>
            <a:r>
              <a:rPr lang="en-NG" sz="2300" dirty="0"/>
              <a:t>➡ Product portfolio inefficiencies dilute margins</a:t>
            </a:r>
            <a:br>
              <a:rPr lang="en-NG" sz="2300" dirty="0"/>
            </a:br>
            <a:r>
              <a:rPr lang="en-NG" sz="2300" dirty="0"/>
              <a:t>➡ Resources are spread across low-value products</a:t>
            </a:r>
          </a:p>
          <a:p>
            <a:pPr>
              <a:buClr>
                <a:srgbClr val="006666"/>
              </a:buClr>
            </a:pPr>
            <a:endParaRPr lang="en-US" sz="18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q"/>
            </a:pPr>
            <a:endParaRPr lang="en-NG" sz="1800" dirty="0">
              <a:solidFill>
                <a:schemeClr val="bg2">
                  <a:lumMod val="50000"/>
                </a:schemeClr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9731057-A7A6-2758-506C-1B3268A65C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264431"/>
              </p:ext>
            </p:extLst>
          </p:nvPr>
        </p:nvGraphicFramePr>
        <p:xfrm>
          <a:off x="4800600" y="731838"/>
          <a:ext cx="6492875" cy="54472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01016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23A115-2B6A-E33F-3A8B-1A227D41A4A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04332" y="863871"/>
            <a:ext cx="4047892" cy="628650"/>
          </a:xfrm>
        </p:spPr>
        <p:txBody>
          <a:bodyPr>
            <a:normAutofit/>
          </a:bodyPr>
          <a:lstStyle/>
          <a:p>
            <a:r>
              <a:rPr lang="en-NG" sz="2400" b="1" dirty="0"/>
              <a:t>Key Drivers Of Sales Decline</a:t>
            </a:r>
            <a:endParaRPr lang="en-NG" sz="2400" dirty="0">
              <a:solidFill>
                <a:srgbClr val="006666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AE87FF-8E24-65B5-605E-45D8F0A581E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204332" y="1817688"/>
            <a:ext cx="10987668" cy="4254500"/>
          </a:xfrm>
        </p:spPr>
        <p:txBody>
          <a:bodyPr>
            <a:normAutofit/>
          </a:bodyPr>
          <a:lstStyle/>
          <a:p>
            <a:r>
              <a:rPr lang="en-NG" sz="2400" b="1" dirty="0"/>
              <a:t>Identified Root Causes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dirty="0"/>
              <a:t>  </a:t>
            </a:r>
            <a:r>
              <a:rPr lang="en-NG" dirty="0"/>
              <a:t>Ineffective, blanket discounting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NG" dirty="0"/>
              <a:t>Weak campaign targeting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dirty="0"/>
              <a:t>  </a:t>
            </a:r>
            <a:r>
              <a:rPr lang="en-NG" dirty="0"/>
              <a:t>Underperforming product lines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NG" dirty="0"/>
              <a:t>Poor alignment between seasonality and promotions</a:t>
            </a:r>
          </a:p>
          <a:p>
            <a:pPr>
              <a:buClr>
                <a:srgbClr val="006666"/>
              </a:buClr>
            </a:pP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>
              <a:buClr>
                <a:srgbClr val="006666"/>
              </a:buClr>
              <a:buFont typeface="Wingdings" panose="05000000000000000000" pitchFamily="2" charset="2"/>
              <a:buChar char="Ø"/>
            </a:pP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308563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76A6C-A618-B393-7BFE-FFDFF48E7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9A38E50-9691-52A5-B791-92A91CC97E6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79863" y="785812"/>
            <a:ext cx="6233532" cy="628650"/>
          </a:xfrm>
        </p:spPr>
        <p:txBody>
          <a:bodyPr>
            <a:normAutofit/>
          </a:bodyPr>
          <a:lstStyle/>
          <a:p>
            <a:r>
              <a:rPr lang="en-NG" sz="2400" b="1" dirty="0"/>
              <a:t>Expected Business Impact &amp; Next Steps</a:t>
            </a:r>
            <a:endParaRPr lang="en-NG" sz="2400" dirty="0">
              <a:solidFill>
                <a:srgbClr val="006666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DC1F13-BDCA-A225-D48D-547F25088F8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579863" y="1817688"/>
            <a:ext cx="11612137" cy="4254500"/>
          </a:xfrm>
        </p:spPr>
        <p:txBody>
          <a:bodyPr>
            <a:normAutofit lnSpcReduction="10000"/>
          </a:bodyPr>
          <a:lstStyle/>
          <a:p>
            <a:r>
              <a:rPr lang="en-NG" b="1" dirty="0"/>
              <a:t>Expected Impact</a:t>
            </a:r>
            <a:r>
              <a:rPr lang="en-US" b="1" dirty="0"/>
              <a:t>s</a:t>
            </a:r>
            <a:endParaRPr lang="en-NG" dirty="0"/>
          </a:p>
          <a:p>
            <a:pPr lvl="0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NG" dirty="0"/>
              <a:t>Reduced revenue leakage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NG" dirty="0"/>
              <a:t>Improved net revenue retention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NG" dirty="0"/>
              <a:t>More predictable seasonal performance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NG" dirty="0"/>
              <a:t>Stronger profitability without deeper discounting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NG" dirty="0"/>
          </a:p>
          <a:p>
            <a:r>
              <a:rPr lang="en-NG" b="1" dirty="0"/>
              <a:t>Next Steps</a:t>
            </a:r>
            <a:endParaRPr lang="en-NG" dirty="0"/>
          </a:p>
          <a:p>
            <a:pPr lvl="0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NG" dirty="0"/>
              <a:t>Implement recommended strategies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NG" dirty="0"/>
              <a:t>Monitor </a:t>
            </a:r>
            <a:r>
              <a:rPr lang="en-NG" dirty="0" err="1"/>
              <a:t>KPIs</a:t>
            </a:r>
            <a:r>
              <a:rPr lang="en-NG" dirty="0"/>
              <a:t> monthly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NG" dirty="0"/>
              <a:t>Refine campaigns using data-driven feedback loops</a:t>
            </a:r>
          </a:p>
          <a:p>
            <a:pPr marL="342900" indent="-342900">
              <a:buClr>
                <a:srgbClr val="006666"/>
              </a:buClr>
              <a:buFont typeface="Wingdings" panose="05000000000000000000" pitchFamily="2" charset="2"/>
              <a:buChar char="Ø"/>
            </a:pP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395843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405FC2F-AA24-4CEF-4134-04653F1B4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10" y="223024"/>
            <a:ext cx="11307336" cy="593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538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B3868-76B5-81B3-A473-CC247417B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4362ED-6534-87A7-CA22-30EFD8F1E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83" y="301083"/>
            <a:ext cx="10694019" cy="586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69458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4278</TotalTime>
  <Words>614</Words>
  <Application>Microsoft Office PowerPoint</Application>
  <PresentationFormat>Widescreen</PresentationFormat>
  <Paragraphs>127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Wingdings</vt:lpstr>
      <vt:lpstr>Retrospect</vt:lpstr>
      <vt:lpstr>EXCEL-  RETAIL PROJECT   Diagnosing Declining Sales and Revenue Leakage Analysis Role: Data Analyst – Sales Intelligence Division Tools Used: Excel (Power Pivot, Power Query, DAX, Pivot Tables)     -   By Adeniyi Adeyemi</vt:lpstr>
      <vt:lpstr>Table of Contents</vt:lpstr>
      <vt:lpstr>Business Overview</vt:lpstr>
      <vt:lpstr>Objectives</vt:lpstr>
      <vt:lpstr>Dataset Overview Period: 2018–2022 Transactions across European markets  Key fields: Product, Category, Country, Quantity, Discount %, Net Revenue  Analytical Approach Built a Power Pivot data model Created DAX measures for Net Revenue, Growth, Seasonality Developed  an Executive-level Pivot dashboard </vt:lpstr>
      <vt:lpstr>Key Performance Indicators  (KPIs)</vt:lpstr>
      <vt:lpstr>Sales Performance Overview (Yearly) </vt:lpstr>
      <vt:lpstr>Quarterly Revenue Analysis</vt:lpstr>
      <vt:lpstr> Monthly Seasonality Analysis</vt:lpstr>
      <vt:lpstr>        Discount Patterns &amp; Campaign Impact</vt:lpstr>
      <vt:lpstr>     Product Performance Analysis</vt:lpstr>
      <vt:lpstr>Key Drivers Of Sales Decline</vt:lpstr>
      <vt:lpstr>Expected Business Impact &amp; Next Steps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Adeniyi Adeyemi</dc:creator>
  <cp:lastModifiedBy>Adeniyi Adeyemi</cp:lastModifiedBy>
  <cp:revision>48</cp:revision>
  <dcterms:created xsi:type="dcterms:W3CDTF">2024-07-18T12:05:01Z</dcterms:created>
  <dcterms:modified xsi:type="dcterms:W3CDTF">2025-12-23T16:08:48Z</dcterms:modified>
</cp:coreProperties>
</file>